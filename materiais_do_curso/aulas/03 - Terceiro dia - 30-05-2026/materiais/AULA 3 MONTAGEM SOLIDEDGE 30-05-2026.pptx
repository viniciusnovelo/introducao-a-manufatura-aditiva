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8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embeddedFontLst>
    <p:embeddedFont>
      <p:font typeface="Manrope" panose="020B0604020202020204" charset="0"/>
      <p:regular r:id="rId15"/>
    </p:embeddedFont>
    <p:embeddedFont>
      <p:font typeface="Prata" panose="020B0604020202020204" charset="0"/>
      <p:regular r:id="rId1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46" y="21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27314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81890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24292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4721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94778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63925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42765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41580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844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34587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2753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77857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73375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5325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74485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2638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714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sldNum="0" hdr="0" ftr="0" dt="0"/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404245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1682204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latin typeface="Prata" pitchFamily="34" charset="0"/>
                <a:ea typeface="Prata" pitchFamily="34" charset="-122"/>
                <a:cs typeface="Prata" pitchFamily="34" charset="-120"/>
              </a:rPr>
              <a:t>Guia Mestre de Montagem no Solid Edge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3925119" y="2780779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Do ambiente de peça (.par) ao conjunto final (.asm) — um guia técnico e prático para engenheiros e desenhistas mecânicos que desejam dominar o fluxo completo de montagem no Solid Edge (Siemens).</a:t>
            </a:r>
            <a:endParaRPr lang="en-US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70334"/>
            <a:ext cx="520414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latin typeface="Prata" pitchFamily="34" charset="0"/>
                <a:ea typeface="Prata" pitchFamily="34" charset="-122"/>
                <a:cs typeface="Prata" pitchFamily="34" charset="-120"/>
              </a:rPr>
              <a:t>Ambiente de Montagem (.asm)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585392"/>
            <a:ext cx="2628230" cy="26282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74988" y="1668066"/>
            <a:ext cx="268389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latin typeface="Prata" pitchFamily="34" charset="0"/>
                <a:ea typeface="Prata" pitchFamily="34" charset="-122"/>
                <a:cs typeface="Prata" pitchFamily="34" charset="-120"/>
              </a:rPr>
              <a:t>Peça (.par) vs. Montagem (.asm</a:t>
            </a:r>
            <a:r>
              <a:rPr lang="en-US" sz="13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)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3474988" y="2031281"/>
            <a:ext cx="517758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 arquivo </a:t>
            </a:r>
            <a:r>
              <a:rPr lang="en-US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.par</a:t>
            </a: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contém uma única peça com suas geometrias e restrições internas. Já o arquivo </a:t>
            </a:r>
            <a:r>
              <a:rPr lang="en-US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.asm</a:t>
            </a: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é o ambiente onde múltiplas peças são reunidas, posicionadas e relacionadas entre si para formar um conjunto funcional.</a:t>
            </a:r>
            <a:endParaRPr lang="en-US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3474988" y="285348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latin typeface="Prata" pitchFamily="34" charset="0"/>
                <a:ea typeface="Prata" pitchFamily="34" charset="-122"/>
                <a:cs typeface="Prata" pitchFamily="34" charset="-120"/>
              </a:rPr>
              <a:t>Como iniciar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3474988" y="3216697"/>
            <a:ext cx="5177582" cy="1006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Arquivo → Novo → Assembly</a:t>
            </a: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(.asm)</a:t>
            </a:r>
            <a:endParaRPr lang="en-US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Selecione o template adequado (métrico ou imperial)</a:t>
            </a:r>
            <a:endParaRPr lang="en-US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 ambiente carrega automaticamente a </a:t>
            </a:r>
            <a:r>
              <a:rPr lang="en-US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Parts Library</a:t>
            </a: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e as ferramentas de restrição</a:t>
            </a:r>
            <a:endParaRPr lang="en-US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404245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03" y="369912"/>
            <a:ext cx="3302719" cy="44036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70871" y="398115"/>
            <a:ext cx="4831259" cy="78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50" dirty="0">
                <a:latin typeface="Prata" pitchFamily="34" charset="0"/>
                <a:ea typeface="Prata" pitchFamily="34" charset="-122"/>
                <a:cs typeface="Prata" pitchFamily="34" charset="-120"/>
              </a:rPr>
              <a:t>Inserindo Componentes na Montagem</a:t>
            </a:r>
            <a:endParaRPr lang="en-US" sz="2450" dirty="0"/>
          </a:p>
        </p:txBody>
      </p:sp>
      <p:sp>
        <p:nvSpPr>
          <p:cNvPr id="5" name="Shape 2"/>
          <p:cNvSpPr/>
          <p:nvPr/>
        </p:nvSpPr>
        <p:spPr>
          <a:xfrm>
            <a:off x="3870871" y="1355824"/>
            <a:ext cx="4831259" cy="1118518"/>
          </a:xfrm>
          <a:prstGeom prst="roundRect">
            <a:avLst>
              <a:gd name="adj" fmla="val 1693"/>
            </a:avLst>
          </a:prstGeom>
          <a:solidFill>
            <a:srgbClr val="212326"/>
          </a:solidFill>
          <a:ln w="14288">
            <a:solidFill>
              <a:srgbClr val="595B5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3885158" y="1370112"/>
            <a:ext cx="504974" cy="1089943"/>
          </a:xfrm>
          <a:prstGeom prst="roundRect">
            <a:avLst>
              <a:gd name="adj" fmla="val 355"/>
            </a:avLst>
          </a:prstGeom>
          <a:solidFill>
            <a:srgbClr val="40424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4042916" y="1796728"/>
            <a:ext cx="189384" cy="2367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1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4502572" y="1496318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Parts Library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4502572" y="1761009"/>
            <a:ext cx="4059064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chemeClr val="bg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Acesse via </a:t>
            </a:r>
            <a:r>
              <a:rPr lang="en-US" sz="950" b="1" dirty="0">
                <a:solidFill>
                  <a:schemeClr val="bg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Painel de Navegação → Parts Library</a:t>
            </a:r>
            <a:r>
              <a:rPr lang="en-US" sz="950" dirty="0">
                <a:solidFill>
                  <a:schemeClr val="bg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 Navegue pelas pastas do projeto e visualize os componentes disponíveis antes de inseri-los.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10" name="Shape 7"/>
          <p:cNvSpPr/>
          <p:nvPr/>
        </p:nvSpPr>
        <p:spPr>
          <a:xfrm>
            <a:off x="3870871" y="2586782"/>
            <a:ext cx="4831259" cy="927571"/>
          </a:xfrm>
          <a:prstGeom prst="roundRect">
            <a:avLst>
              <a:gd name="adj" fmla="val 2042"/>
            </a:avLst>
          </a:prstGeom>
          <a:solidFill>
            <a:srgbClr val="212326"/>
          </a:solidFill>
          <a:ln w="14288">
            <a:solidFill>
              <a:srgbClr val="595B5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3885158" y="2601069"/>
            <a:ext cx="504974" cy="898996"/>
          </a:xfrm>
          <a:prstGeom prst="roundRect">
            <a:avLst>
              <a:gd name="adj" fmla="val 355"/>
            </a:avLst>
          </a:prstGeom>
          <a:solidFill>
            <a:srgbClr val="40424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4042916" y="2932212"/>
            <a:ext cx="189384" cy="2367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2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4502572" y="2727275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Arrastar e Soltar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4" name="Text 11"/>
          <p:cNvSpPr/>
          <p:nvPr/>
        </p:nvSpPr>
        <p:spPr>
          <a:xfrm>
            <a:off x="4502572" y="2991966"/>
            <a:ext cx="4059064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chemeClr val="bg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Arraste o arquivo </a:t>
            </a:r>
            <a:r>
              <a:rPr lang="en-US" sz="950" b="1" dirty="0">
                <a:solidFill>
                  <a:schemeClr val="bg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.par</a:t>
            </a:r>
            <a:r>
              <a:rPr lang="en-US" sz="950" dirty="0">
                <a:solidFill>
                  <a:schemeClr val="bg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diretamente para a área gráfica. A primeira peça inserida é fixada automaticamente no espaço (grounded).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15" name="Shape 12"/>
          <p:cNvSpPr/>
          <p:nvPr/>
        </p:nvSpPr>
        <p:spPr>
          <a:xfrm>
            <a:off x="3870871" y="3626793"/>
            <a:ext cx="4831259" cy="1118518"/>
          </a:xfrm>
          <a:prstGeom prst="roundRect">
            <a:avLst>
              <a:gd name="adj" fmla="val 1693"/>
            </a:avLst>
          </a:prstGeom>
          <a:solidFill>
            <a:srgbClr val="212326"/>
          </a:solidFill>
          <a:ln w="14288">
            <a:solidFill>
              <a:srgbClr val="595B5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3"/>
          <p:cNvSpPr/>
          <p:nvPr/>
        </p:nvSpPr>
        <p:spPr>
          <a:xfrm>
            <a:off x="3885158" y="3641080"/>
            <a:ext cx="504974" cy="1089943"/>
          </a:xfrm>
          <a:prstGeom prst="roundRect">
            <a:avLst>
              <a:gd name="adj" fmla="val 355"/>
            </a:avLst>
          </a:prstGeom>
          <a:solidFill>
            <a:srgbClr val="40424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4042916" y="4067696"/>
            <a:ext cx="189384" cy="2367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3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4502572" y="3767286"/>
            <a:ext cx="1596256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Inserir por Comando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9" name="Text 16"/>
          <p:cNvSpPr/>
          <p:nvPr/>
        </p:nvSpPr>
        <p:spPr>
          <a:xfrm>
            <a:off x="4502572" y="4031977"/>
            <a:ext cx="4059064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chemeClr val="bg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Use </a:t>
            </a:r>
            <a:r>
              <a:rPr lang="en-US" sz="950" b="1" dirty="0">
                <a:solidFill>
                  <a:schemeClr val="bg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Inserir Componente</a:t>
            </a:r>
            <a:r>
              <a:rPr lang="en-US" sz="950" dirty="0">
                <a:solidFill>
                  <a:schemeClr val="bg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na faixa de opções para navegar até o arquivo. Ideal para montagens com muitos componentes ou referências externas.</a:t>
            </a:r>
            <a:endParaRPr lang="en-US" sz="9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42541"/>
            <a:ext cx="593943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latin typeface="Prata" pitchFamily="34" charset="0"/>
                <a:ea typeface="Prata" pitchFamily="34" charset="-122"/>
                <a:cs typeface="Prata" pitchFamily="34" charset="-120"/>
              </a:rPr>
              <a:t>Relações de Montagem — FlashFit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769046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 </a:t>
            </a:r>
            <a:r>
              <a:rPr lang="en-US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FlashFit</a:t>
            </a: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é o modo inteligente de restrição do Solid Edge. Ao aproximar duas geometrias, o software sugere automaticamente a relação mais adequada. As três restrições fundamentais são:</a:t>
            </a:r>
            <a:endParaRPr lang="en-US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496119" y="2382143"/>
            <a:ext cx="2622724" cy="1718742"/>
          </a:xfrm>
          <a:prstGeom prst="roundRect">
            <a:avLst>
              <a:gd name="adj" fmla="val 1237"/>
            </a:avLst>
          </a:prstGeom>
          <a:solidFill>
            <a:srgbClr val="40424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37877" y="2523902"/>
            <a:ext cx="193387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Mate — Assentamento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37877" y="2830413"/>
            <a:ext cx="23392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Alinha duas faces com normais opostas, fazendo-as coincidir. Elimina translação na direção normal e rotações em dois eixos.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60601" y="2382143"/>
            <a:ext cx="2622724" cy="1718742"/>
          </a:xfrm>
          <a:prstGeom prst="roundRect">
            <a:avLst>
              <a:gd name="adj" fmla="val 1237"/>
            </a:avLst>
          </a:prstGeom>
          <a:solidFill>
            <a:srgbClr val="40424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3402360" y="2523902"/>
            <a:ext cx="233920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Axial Align — Alinhamento Axial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402360" y="3051870"/>
            <a:ext cx="23392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Coloca dois eixos cilíndricos na mesma linha central. Ideal para pinos, furos e eixos de rotação.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25083" y="2382143"/>
            <a:ext cx="2622724" cy="1718742"/>
          </a:xfrm>
          <a:prstGeom prst="roundRect">
            <a:avLst>
              <a:gd name="adj" fmla="val 1237"/>
            </a:avLst>
          </a:prstGeom>
          <a:solidFill>
            <a:srgbClr val="40424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166842" y="2523902"/>
            <a:ext cx="233920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Planar Align — Alinhamento Planar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166842" y="3051870"/>
            <a:ext cx="23392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Alinha duas faces com normais no mesmo sentido, mantendo-as coplanares e orientadas igualmente.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2E6DDB8E-2F59-FDCD-A032-D3630E377B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9319" y="186931"/>
            <a:ext cx="3705225" cy="3617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301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1189" y="1691"/>
            <a:ext cx="571157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50"/>
              </a:lnSpc>
              <a:buNone/>
            </a:pPr>
            <a:r>
              <a:rPr lang="en-US" sz="2000" dirty="0" err="1">
                <a:latin typeface="Prata" pitchFamily="34" charset="0"/>
                <a:ea typeface="Prata" pitchFamily="34" charset="-122"/>
                <a:cs typeface="Prata" pitchFamily="34" charset="-120"/>
              </a:rPr>
              <a:t>Peça</a:t>
            </a:r>
            <a:r>
              <a:rPr lang="en-US" sz="2000" dirty="0">
                <a:latin typeface="Prata" pitchFamily="34" charset="0"/>
                <a:ea typeface="Prata" pitchFamily="34" charset="-122"/>
                <a:cs typeface="Prata" pitchFamily="34" charset="-120"/>
              </a:rPr>
              <a:t> 01</a:t>
            </a:r>
            <a:endParaRPr lang="en-US" sz="2000" dirty="0"/>
          </a:p>
        </p:txBody>
      </p:sp>
      <p:pic>
        <p:nvPicPr>
          <p:cNvPr id="5" name="Imagem 4" descr="1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931" y="444678"/>
            <a:ext cx="5595086" cy="391812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1189" y="-84908"/>
            <a:ext cx="571157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50"/>
              </a:lnSpc>
              <a:buNone/>
            </a:pPr>
            <a:r>
              <a:rPr lang="en-US" dirty="0" err="1">
                <a:latin typeface="Prata" pitchFamily="34" charset="0"/>
                <a:ea typeface="Prata" pitchFamily="34" charset="-122"/>
                <a:cs typeface="Prata" pitchFamily="34" charset="-120"/>
              </a:rPr>
              <a:t>Peça</a:t>
            </a:r>
            <a:r>
              <a:rPr lang="en-US" dirty="0">
                <a:latin typeface="Prata" pitchFamily="34" charset="0"/>
                <a:ea typeface="Prata" pitchFamily="34" charset="-122"/>
                <a:cs typeface="Prata" pitchFamily="34" charset="-120"/>
              </a:rPr>
              <a:t> 02</a:t>
            </a:r>
            <a:endParaRPr lang="en-US" dirty="0"/>
          </a:p>
        </p:txBody>
      </p:sp>
      <p:pic>
        <p:nvPicPr>
          <p:cNvPr id="5" name="Imagem 4" descr="2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486" y="358079"/>
            <a:ext cx="5711577" cy="39800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1189" y="0"/>
            <a:ext cx="571157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50"/>
              </a:lnSpc>
              <a:buNone/>
            </a:pPr>
            <a:r>
              <a:rPr lang="en-US" sz="2000" dirty="0" err="1">
                <a:latin typeface="Prata" pitchFamily="34" charset="0"/>
                <a:ea typeface="Prata" pitchFamily="34" charset="-122"/>
                <a:cs typeface="Prata" pitchFamily="34" charset="-120"/>
              </a:rPr>
              <a:t>Peça</a:t>
            </a:r>
            <a:r>
              <a:rPr lang="en-US" sz="2000" dirty="0">
                <a:latin typeface="Prata" pitchFamily="34" charset="0"/>
                <a:ea typeface="Prata" pitchFamily="34" charset="-122"/>
                <a:cs typeface="Prata" pitchFamily="34" charset="-120"/>
              </a:rPr>
              <a:t> 03</a:t>
            </a:r>
            <a:endParaRPr lang="en-US" sz="2000" dirty="0"/>
          </a:p>
        </p:txBody>
      </p:sp>
      <p:pic>
        <p:nvPicPr>
          <p:cNvPr id="3" name="Imagem 2" descr="3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2503" y="442987"/>
            <a:ext cx="5711577" cy="4004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1189" y="0"/>
            <a:ext cx="571157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50"/>
              </a:lnSpc>
              <a:buNone/>
            </a:pPr>
            <a:r>
              <a:rPr lang="en-US" dirty="0" err="1">
                <a:latin typeface="Prata" pitchFamily="34" charset="0"/>
                <a:ea typeface="Prata" pitchFamily="34" charset="-122"/>
                <a:cs typeface="Prata" pitchFamily="34" charset="-120"/>
              </a:rPr>
              <a:t>Peça</a:t>
            </a:r>
            <a:r>
              <a:rPr lang="en-US" dirty="0">
                <a:latin typeface="Prata" pitchFamily="34" charset="0"/>
                <a:ea typeface="Prata" pitchFamily="34" charset="-122"/>
                <a:cs typeface="Prata" pitchFamily="34" charset="-120"/>
              </a:rPr>
              <a:t> 04</a:t>
            </a:r>
            <a:endParaRPr lang="en-US" dirty="0"/>
          </a:p>
        </p:txBody>
      </p:sp>
      <p:pic>
        <p:nvPicPr>
          <p:cNvPr id="3" name="Imagem 2" descr="4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1189" y="442988"/>
            <a:ext cx="5623245" cy="393443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22812" y="0"/>
            <a:ext cx="571157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50"/>
              </a:lnSpc>
              <a:buNone/>
            </a:pPr>
            <a:r>
              <a:rPr lang="en-US" dirty="0" err="1">
                <a:latin typeface="Prata" pitchFamily="34" charset="0"/>
                <a:ea typeface="Prata" pitchFamily="34" charset="-122"/>
                <a:cs typeface="Prata" pitchFamily="34" charset="-120"/>
              </a:rPr>
              <a:t>Peça</a:t>
            </a:r>
            <a:r>
              <a:rPr lang="en-US" dirty="0">
                <a:latin typeface="Prata" pitchFamily="34" charset="0"/>
                <a:ea typeface="Prata" pitchFamily="34" charset="-122"/>
                <a:cs typeface="Prata" pitchFamily="34" charset="-120"/>
              </a:rPr>
              <a:t> 05</a:t>
            </a:r>
            <a:endParaRPr lang="en-US" dirty="0"/>
          </a:p>
        </p:txBody>
      </p:sp>
      <p:pic>
        <p:nvPicPr>
          <p:cNvPr id="3" name="Imagem 2" descr="55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7152" y="442987"/>
            <a:ext cx="5711577" cy="398178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1189" y="300557"/>
            <a:ext cx="662969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50"/>
              </a:lnSpc>
              <a:buNone/>
            </a:pPr>
            <a:r>
              <a:rPr lang="en-US" sz="2400" dirty="0">
                <a:latin typeface="Prata" pitchFamily="34" charset="0"/>
              </a:rPr>
              <a:t>Como </a:t>
            </a:r>
            <a:r>
              <a:rPr lang="en-US" sz="2400" dirty="0" err="1">
                <a:latin typeface="Prata" pitchFamily="34" charset="0"/>
              </a:rPr>
              <a:t>fazer</a:t>
            </a:r>
            <a:r>
              <a:rPr lang="en-US" sz="2400" dirty="0">
                <a:latin typeface="Prata" pitchFamily="34" charset="0"/>
              </a:rPr>
              <a:t> a </a:t>
            </a:r>
            <a:r>
              <a:rPr lang="en-US" sz="2400" dirty="0" err="1">
                <a:latin typeface="Prata" pitchFamily="34" charset="0"/>
              </a:rPr>
              <a:t>peça</a:t>
            </a:r>
            <a:r>
              <a:rPr lang="en-US" sz="2400" dirty="0">
                <a:latin typeface="Prata" pitchFamily="34" charset="0"/>
              </a:rPr>
              <a:t> 3 de </a:t>
            </a:r>
            <a:r>
              <a:rPr lang="en-US" sz="2400" dirty="0" err="1">
                <a:latin typeface="Prata" pitchFamily="34" charset="0"/>
              </a:rPr>
              <a:t>maneira</a:t>
            </a:r>
            <a:r>
              <a:rPr lang="en-US" sz="2400" dirty="0">
                <a:latin typeface="Prata" pitchFamily="34" charset="0"/>
              </a:rPr>
              <a:t> </a:t>
            </a:r>
            <a:r>
              <a:rPr lang="en-US" sz="2400" dirty="0" err="1">
                <a:latin typeface="Prata" pitchFamily="34" charset="0"/>
              </a:rPr>
              <a:t>rápida</a:t>
            </a:r>
            <a:endParaRPr lang="en-US" sz="2400" dirty="0"/>
          </a:p>
        </p:txBody>
      </p:sp>
      <p:pic>
        <p:nvPicPr>
          <p:cNvPr id="5" name="Imagem 4" descr="pr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667" y="1047537"/>
            <a:ext cx="7135221" cy="304842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51486" y="79063"/>
            <a:ext cx="664102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50"/>
              </a:lnSpc>
              <a:buNone/>
            </a:pPr>
            <a:r>
              <a:rPr lang="en-US" sz="2000" dirty="0">
                <a:latin typeface="Prata" pitchFamily="34" charset="0"/>
              </a:rPr>
              <a:t>Como </a:t>
            </a:r>
            <a:r>
              <a:rPr lang="en-US" sz="2000" dirty="0" err="1">
                <a:latin typeface="Prata" pitchFamily="34" charset="0"/>
              </a:rPr>
              <a:t>fazer</a:t>
            </a:r>
            <a:r>
              <a:rPr lang="en-US" sz="2000" dirty="0">
                <a:latin typeface="Prata" pitchFamily="34" charset="0"/>
              </a:rPr>
              <a:t> a </a:t>
            </a:r>
            <a:r>
              <a:rPr lang="en-US" sz="2000" dirty="0" err="1">
                <a:latin typeface="Prata" pitchFamily="34" charset="0"/>
              </a:rPr>
              <a:t>peça</a:t>
            </a:r>
            <a:r>
              <a:rPr lang="en-US" sz="2000" dirty="0">
                <a:latin typeface="Prata" pitchFamily="34" charset="0"/>
              </a:rPr>
              <a:t> 5 de </a:t>
            </a:r>
            <a:r>
              <a:rPr lang="en-US" sz="2000" dirty="0" err="1">
                <a:latin typeface="Prata" pitchFamily="34" charset="0"/>
              </a:rPr>
              <a:t>maneira</a:t>
            </a:r>
            <a:r>
              <a:rPr lang="en-US" sz="2000" dirty="0">
                <a:latin typeface="Prata" pitchFamily="34" charset="0"/>
              </a:rPr>
              <a:t> </a:t>
            </a:r>
            <a:r>
              <a:rPr lang="en-US" sz="2000" dirty="0" err="1">
                <a:latin typeface="Prata" pitchFamily="34" charset="0"/>
              </a:rPr>
              <a:t>rápida</a:t>
            </a:r>
            <a:endParaRPr lang="en-US" sz="2000" dirty="0"/>
          </a:p>
        </p:txBody>
      </p:sp>
      <p:pic>
        <p:nvPicPr>
          <p:cNvPr id="3" name="Imagem 2" descr="pr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9099" y="620021"/>
            <a:ext cx="3346975" cy="376441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IFMG -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FMG - Theme" id="{CAC2067F-1B10-48BF-BE59-366EF363BC68}" vid="{92B2563D-64DD-4AB1-AD9F-6B2F9ACB61F4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IFMG - Theme</Template>
  <TotalTime>57</TotalTime>
  <Words>358</Words>
  <Application>Microsoft Office PowerPoint</Application>
  <PresentationFormat>Apresentação na tela (16:9)</PresentationFormat>
  <Paragraphs>45</Paragraphs>
  <Slides>12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7" baseType="lpstr">
      <vt:lpstr>Prata</vt:lpstr>
      <vt:lpstr>Manrope</vt:lpstr>
      <vt:lpstr>Arial</vt:lpstr>
      <vt:lpstr>Calibri</vt:lpstr>
      <vt:lpstr>IFMG -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pc</dc:creator>
  <cp:lastModifiedBy>OTAVIO LUIZ NUNES DA SILVA</cp:lastModifiedBy>
  <cp:revision>6</cp:revision>
  <dcterms:created xsi:type="dcterms:W3CDTF">2026-05-10T14:24:30Z</dcterms:created>
  <dcterms:modified xsi:type="dcterms:W3CDTF">2026-05-29T23:20:40Z</dcterms:modified>
</cp:coreProperties>
</file>