
<file path=[Content_Types].xml><?xml version="1.0" encoding="utf-8"?>
<Types xmlns="http://schemas.openxmlformats.org/package/2006/content-types">
  <Default Extension="bmp" ContentType="image/bmp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70" r:id="rId9"/>
    <p:sldId id="278" r:id="rId10"/>
    <p:sldId id="262" r:id="rId11"/>
    <p:sldId id="263" r:id="rId12"/>
    <p:sldId id="274" r:id="rId13"/>
    <p:sldId id="266" r:id="rId14"/>
    <p:sldId id="271" r:id="rId15"/>
    <p:sldId id="273" r:id="rId16"/>
    <p:sldId id="264" r:id="rId17"/>
    <p:sldId id="272" r:id="rId18"/>
    <p:sldId id="268" r:id="rId19"/>
    <p:sldId id="276" r:id="rId20"/>
    <p:sldId id="275" r:id="rId21"/>
    <p:sldId id="277" r:id="rId22"/>
  </p:sldIdLst>
  <p:sldSz cx="14630400" cy="8229600"/>
  <p:notesSz cx="8229600" cy="14630400"/>
  <p:embeddedFontLst>
    <p:embeddedFont>
      <p:font typeface="Manrope" panose="020B0604020202020204" charset="0"/>
      <p:regular r:id="rId24"/>
      <p:bold r:id="rId25"/>
    </p:embeddedFont>
    <p:embeddedFont>
      <p:font typeface="Prata" panose="020B0604020202020204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39" y="-1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861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668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120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402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341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065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792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528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16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034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187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107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240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152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454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89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98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543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4033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134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11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548640" rtl="0" eaLnBrk="1" latinLnBrk="0" hangingPunct="1">
        <a:spcBef>
          <a:spcPct val="20000"/>
        </a:spcBef>
        <a:buFont typeface="Arial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bmp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20.xml"/><Relationship Id="rId1" Type="http://schemas.openxmlformats.org/officeDocument/2006/relationships/video" Target="https://www.youtube.com/embed/CYQ9mJ_uZAo?feature=oemb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2968943"/>
            <a:ext cx="1796653" cy="426244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416278" y="3036927"/>
            <a:ext cx="152447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 2 · SOLID EDGE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3485912"/>
            <a:ext cx="62254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rata" pitchFamily="34" charset="0"/>
                <a:ea typeface="Prata" pitchFamily="34" charset="-122"/>
                <a:cs typeface="Prata" pitchFamily="34" charset="-120"/>
              </a:rPr>
              <a:t>Modelagem Elaborada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6280190" y="453485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Cortes, Furos e Revolução — do bloco básico à peça funcional com precisão de engenharia.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21E929C2-CC5E-1ED1-1B77-398D6EAAF3EC}"/>
              </a:ext>
            </a:extLst>
          </p:cNvPr>
          <p:cNvSpPr/>
          <p:nvPr/>
        </p:nvSpPr>
        <p:spPr>
          <a:xfrm>
            <a:off x="474302" y="3472198"/>
            <a:ext cx="5386672" cy="517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Relembrando</a:t>
            </a:r>
            <a:r>
              <a:rPr lang="en-US" sz="36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36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conceitos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80C6AF-4275-7F31-612B-0CE586D2407C}"/>
              </a:ext>
            </a:extLst>
          </p:cNvPr>
          <p:cNvSpPr/>
          <p:nvPr/>
        </p:nvSpPr>
        <p:spPr>
          <a:xfrm>
            <a:off x="6004193" y="772330"/>
            <a:ext cx="7987229" cy="1318260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78FF8A-C0FE-40B9-1168-C6AA661E51BE}"/>
              </a:ext>
            </a:extLst>
          </p:cNvPr>
          <p:cNvSpPr/>
          <p:nvPr/>
        </p:nvSpPr>
        <p:spPr>
          <a:xfrm>
            <a:off x="6167188" y="826138"/>
            <a:ext cx="488033" cy="435182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A7A7C303-63F6-BF28-4D39-DEC496ED15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1610" y="930962"/>
            <a:ext cx="219763" cy="219763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E615C757-2BC5-D4AB-2BA8-CFEC861A44F4}"/>
              </a:ext>
            </a:extLst>
          </p:cNvPr>
          <p:cNvSpPr/>
          <p:nvPr/>
        </p:nvSpPr>
        <p:spPr>
          <a:xfrm>
            <a:off x="6167189" y="1406513"/>
            <a:ext cx="2033882" cy="22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Configuração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202A0CB-4981-0E58-CED0-B514928C4B34}"/>
              </a:ext>
            </a:extLst>
          </p:cNvPr>
          <p:cNvSpPr/>
          <p:nvPr/>
        </p:nvSpPr>
        <p:spPr>
          <a:xfrm>
            <a:off x="6167189" y="1728173"/>
            <a:ext cx="7661875" cy="199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Template ISO métrico + Modo Ordenado ativado via Pathfinder.</a:t>
            </a:r>
            <a:endParaRPr lang="en-US" sz="2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DA0B11D-2F6B-7AD4-FE25-24849F67AE5E}"/>
              </a:ext>
            </a:extLst>
          </p:cNvPr>
          <p:cNvSpPr/>
          <p:nvPr/>
        </p:nvSpPr>
        <p:spPr>
          <a:xfrm>
            <a:off x="6004193" y="2370744"/>
            <a:ext cx="7987229" cy="1318260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  <p:txBody>
          <a:bodyPr/>
          <a:lstStyle/>
          <a:p>
            <a:endParaRPr lang="pt-B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B32940B-CD58-6E31-CF75-4563E06F179C}"/>
              </a:ext>
            </a:extLst>
          </p:cNvPr>
          <p:cNvSpPr/>
          <p:nvPr/>
        </p:nvSpPr>
        <p:spPr>
          <a:xfrm>
            <a:off x="6167188" y="2424552"/>
            <a:ext cx="488033" cy="435182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0C642B1B-B559-D48C-1066-B234CB281F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1610" y="2529376"/>
            <a:ext cx="219763" cy="219763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4DAF9BB4-29F8-EDD6-D371-E3D0E8021D7D}"/>
              </a:ext>
            </a:extLst>
          </p:cNvPr>
          <p:cNvSpPr/>
          <p:nvPr/>
        </p:nvSpPr>
        <p:spPr>
          <a:xfrm>
            <a:off x="6167189" y="3004927"/>
            <a:ext cx="2033882" cy="22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Rascunho</a:t>
            </a:r>
            <a:endParaRPr lang="en-US" sz="2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147995E-B17C-2249-AA56-DCE1B8E6D250}"/>
              </a:ext>
            </a:extLst>
          </p:cNvPr>
          <p:cNvSpPr/>
          <p:nvPr/>
        </p:nvSpPr>
        <p:spPr>
          <a:xfrm>
            <a:off x="6167189" y="3326587"/>
            <a:ext cx="7661875" cy="199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Sketch no Plano Frontal com retângulo 60×60mm na origem.</a:t>
            </a:r>
            <a:endParaRPr lang="en-US" sz="20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BC76804-BFBE-A0A5-C3E8-8494934A6297}"/>
              </a:ext>
            </a:extLst>
          </p:cNvPr>
          <p:cNvSpPr/>
          <p:nvPr/>
        </p:nvSpPr>
        <p:spPr>
          <a:xfrm>
            <a:off x="6004193" y="3969158"/>
            <a:ext cx="7987229" cy="1318260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FB20C8CE-BF21-FB8E-7F02-4FC93B9A43CA}"/>
              </a:ext>
            </a:extLst>
          </p:cNvPr>
          <p:cNvSpPr/>
          <p:nvPr/>
        </p:nvSpPr>
        <p:spPr>
          <a:xfrm>
            <a:off x="6167188" y="4022966"/>
            <a:ext cx="488033" cy="435182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EBD00BFD-919B-EE12-D95E-B67F153C6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1610" y="4127790"/>
            <a:ext cx="219763" cy="219763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C95842E3-A23A-8277-B024-646ABF0C50E8}"/>
              </a:ext>
            </a:extLst>
          </p:cNvPr>
          <p:cNvSpPr/>
          <p:nvPr/>
        </p:nvSpPr>
        <p:spPr>
          <a:xfrm>
            <a:off x="6167189" y="4603341"/>
            <a:ext cx="2033882" cy="22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Extrusão</a:t>
            </a:r>
            <a:endParaRPr lang="en-US" sz="2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3DD799A-0F37-526C-6BED-CB64F9497220}"/>
              </a:ext>
            </a:extLst>
          </p:cNvPr>
          <p:cNvSpPr/>
          <p:nvPr/>
        </p:nvSpPr>
        <p:spPr>
          <a:xfrm>
            <a:off x="6167189" y="4925001"/>
            <a:ext cx="7661875" cy="199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Comando Projeção c</a:t>
            </a:r>
            <a:r>
              <a:rPr lang="pt-BR" alt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</a:t>
            </a: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profundidade de 60mm gerando o cubo.</a:t>
            </a:r>
            <a:endParaRPr lang="en-US" sz="20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8901C06-11D1-523B-81E4-287AB5C52685}"/>
              </a:ext>
            </a:extLst>
          </p:cNvPr>
          <p:cNvSpPr/>
          <p:nvPr/>
        </p:nvSpPr>
        <p:spPr>
          <a:xfrm>
            <a:off x="6004193" y="5567572"/>
            <a:ext cx="7987229" cy="1318260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DDF34013-CE7C-15C1-459A-7B85D7705E9B}"/>
              </a:ext>
            </a:extLst>
          </p:cNvPr>
          <p:cNvSpPr/>
          <p:nvPr/>
        </p:nvSpPr>
        <p:spPr>
          <a:xfrm>
            <a:off x="6167188" y="5621380"/>
            <a:ext cx="488033" cy="435182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F94F4BC2-1C18-CC80-ED74-6986D9A73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1610" y="5726204"/>
            <a:ext cx="219763" cy="219763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4F439A12-1CA0-0F0F-0230-D228BB64D157}"/>
              </a:ext>
            </a:extLst>
          </p:cNvPr>
          <p:cNvSpPr/>
          <p:nvPr/>
        </p:nvSpPr>
        <p:spPr>
          <a:xfrm>
            <a:off x="6167189" y="6201755"/>
            <a:ext cx="2033882" cy="226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Arquivo</a:t>
            </a:r>
            <a:endParaRPr lang="en-US" sz="24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BE3786A-6707-B26D-44EB-857AE3824381}"/>
              </a:ext>
            </a:extLst>
          </p:cNvPr>
          <p:cNvSpPr/>
          <p:nvPr/>
        </p:nvSpPr>
        <p:spPr>
          <a:xfrm>
            <a:off x="6167189" y="6523416"/>
            <a:ext cx="7661875" cy="199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Salvo em formato </a:t>
            </a: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.par</a:t>
            </a: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 histórico completo da construção.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2995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57348" y="0"/>
            <a:ext cx="5373052" cy="7094458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135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rata" pitchFamily="34" charset="0"/>
                <a:ea typeface="Prata" pitchFamily="34" charset="-122"/>
                <a:cs typeface="Prata" pitchFamily="34" charset="-120"/>
              </a:rPr>
              <a:t>Além da Extrusão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18408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No Dia 1, criamos o bloco base. Hoje, vamos </a:t>
            </a: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subtrair massa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para transformar esse sólido em uma peça funcional, usando ferramentas de detalhamento essenciais.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527941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020604" y="3754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Recorte (Cut)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245173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 material com base em um perfil 2D desenhado sobre uma face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52794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912162" y="3754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Assistente de Furo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2162" y="4245173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Cria furos precisos: simples, escareados e com rosca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8750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020604" y="6014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Revolução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0604" y="650474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Gera peças circulares girando um perfil em torno de um eixo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351" y="540068"/>
            <a:ext cx="1714262" cy="355759"/>
          </a:xfrm>
          <a:prstGeom prst="roundRect">
            <a:avLst>
              <a:gd name="adj" fmla="val 6456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34747" y="605076"/>
            <a:ext cx="1469469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COMANDO RECORTE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2351" y="960358"/>
            <a:ext cx="1086671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latin typeface="Prata" pitchFamily="34" charset="0"/>
                <a:ea typeface="Prata" pitchFamily="34" charset="-122"/>
                <a:cs typeface="Prata" pitchFamily="34" charset="-120"/>
              </a:rPr>
              <a:t>Recorte (Cut): Removendo Massa com Precisão</a:t>
            </a:r>
            <a:endParaRPr lang="en-US" sz="3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69" y="1682711"/>
            <a:ext cx="4318397" cy="43183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05331" y="3380303"/>
            <a:ext cx="842010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 comando </a:t>
            </a:r>
            <a:r>
              <a:rPr lang="en-US" sz="15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Recorte</a:t>
            </a:r>
            <a:r>
              <a:rPr lang="en-US" sz="15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subtrai material de uma peça existente. O processo segue três etapas fundamentais: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505331" y="4126230"/>
            <a:ext cx="8420100" cy="739854"/>
          </a:xfrm>
          <a:prstGeom prst="roundRect">
            <a:avLst>
              <a:gd name="adj" fmla="val 3880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664" y="4411147"/>
            <a:ext cx="239197" cy="1913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7194" y="4335423"/>
            <a:ext cx="7606903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⚠️</a:t>
            </a: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direção do corte é crítica: a seta aponta para o lado que será </a:t>
            </a: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eliminado</a:t>
            </a: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04969" y="6126742"/>
            <a:ext cx="430530" cy="430530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806971" y="6229493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237501" y="611537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latin typeface="Prata" pitchFamily="34" charset="0"/>
                <a:ea typeface="Prata" pitchFamily="34" charset="-122"/>
                <a:cs typeface="Prata" pitchFamily="34" charset="-120"/>
              </a:rPr>
              <a:t>Selecione a face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1207234" y="6480901"/>
            <a:ext cx="367534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Clique na superfície onde o recorte será aplicado</a:t>
            </a:r>
            <a:endParaRPr lang="en-US" sz="1500" b="1" dirty="0"/>
          </a:p>
        </p:txBody>
      </p:sp>
      <p:sp>
        <p:nvSpPr>
          <p:cNvPr id="14" name="Shape 10"/>
          <p:cNvSpPr/>
          <p:nvPr/>
        </p:nvSpPr>
        <p:spPr>
          <a:xfrm>
            <a:off x="5212831" y="5988197"/>
            <a:ext cx="430530" cy="430530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5284566" y="6024094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5804810" y="605391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latin typeface="Prata" pitchFamily="34" charset="0"/>
                <a:ea typeface="Prata" pitchFamily="34" charset="-122"/>
                <a:cs typeface="Prata" pitchFamily="34" charset="-120"/>
              </a:rPr>
              <a:t>Desenhe o perfil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5804810" y="6449683"/>
            <a:ext cx="367534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Esboce a forma da região a ser removida no modo de rascunho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681961" y="5988197"/>
            <a:ext cx="430530" cy="430530"/>
          </a:xfrm>
          <a:prstGeom prst="roundRect">
            <a:avLst>
              <a:gd name="adj" fmla="val 666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9753696" y="6024094"/>
            <a:ext cx="287060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10273940" y="605391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latin typeface="Prata" pitchFamily="34" charset="0"/>
                <a:ea typeface="Prata" pitchFamily="34" charset="-122"/>
                <a:cs typeface="Prata" pitchFamily="34" charset="-120"/>
              </a:rPr>
              <a:t>Defina a direção</a:t>
            </a:r>
            <a:endParaRPr lang="en-US" sz="1850" dirty="0"/>
          </a:p>
        </p:txBody>
      </p:sp>
      <p:sp>
        <p:nvSpPr>
          <p:cNvPr id="21" name="Text 17"/>
          <p:cNvSpPr/>
          <p:nvPr/>
        </p:nvSpPr>
        <p:spPr>
          <a:xfrm>
            <a:off x="10273940" y="6449683"/>
            <a:ext cx="367534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Confirme o sentido do corte — a seta indica qual lado será removido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48640"/>
            <a:ext cx="5463302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latin typeface="Prata" pitchFamily="34" charset="0"/>
                <a:ea typeface="Prata" pitchFamily="34" charset="-122"/>
                <a:cs typeface="Prata" pitchFamily="34" charset="-120"/>
              </a:rPr>
              <a:t>Recorte: Antes e Depois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32" y="1469588"/>
            <a:ext cx="13205579" cy="5465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806" y="2986305"/>
            <a:ext cx="2133957" cy="36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latin typeface="Prata" pitchFamily="34" charset="0"/>
                <a:ea typeface="Prata" pitchFamily="34" charset="-122"/>
                <a:cs typeface="Prata" pitchFamily="34" charset="-120"/>
              </a:rPr>
              <a:t>Antes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4806" y="3456361"/>
            <a:ext cx="2133957" cy="80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Bloco sólido retangular sem modificações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60377" y="2986305"/>
            <a:ext cx="2133957" cy="36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latin typeface="Prata" pitchFamily="34" charset="0"/>
                <a:ea typeface="Prata" pitchFamily="34" charset="-122"/>
                <a:cs typeface="Prata" pitchFamily="34" charset="-120"/>
              </a:rPr>
              <a:t>Depois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1460377" y="3456361"/>
            <a:ext cx="2133957" cy="1079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8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Bloco com furo retangular e recorte lateral removido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2351" y="7116604"/>
            <a:ext cx="1320557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diagrama ilustra como o comando Recorte transforma um bloco simples em uma peça com geometria complexa, removendo seções específicas conforme o perfil definido pelo projetista.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" y="591860"/>
            <a:ext cx="5284351" cy="70458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93393" y="581978"/>
            <a:ext cx="1845588" cy="365522"/>
          </a:xfrm>
          <a:prstGeom prst="roundRect">
            <a:avLst>
              <a:gd name="adj" fmla="val 6632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314599" y="642580"/>
            <a:ext cx="1603177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ASSISTENTE DE FURO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193393" y="1019413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latin typeface="Prata" pitchFamily="34" charset="0"/>
                <a:ea typeface="Prata" pitchFamily="34" charset="-122"/>
                <a:cs typeface="Prata" pitchFamily="34" charset="-120"/>
              </a:rPr>
              <a:t>Hole Wizard: Furos com Precisão Industrial</a:t>
            </a:r>
            <a:endParaRPr lang="en-US" sz="3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393" y="2460546"/>
            <a:ext cx="504944" cy="504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3393" y="314033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Prata" pitchFamily="34" charset="0"/>
                <a:ea typeface="Prata" pitchFamily="34" charset="-122"/>
                <a:cs typeface="Prata" pitchFamily="34" charset="-120"/>
              </a:rPr>
              <a:t>Furo Simples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193393" y="3492804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Furo cilíndrico passante ou cego. Ideal para eixos e pinos de encaixe.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3393" y="4084755"/>
            <a:ext cx="504944" cy="5049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3393" y="469353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Prata" pitchFamily="34" charset="0"/>
                <a:ea typeface="Prata" pitchFamily="34" charset="-122"/>
                <a:cs typeface="Prata" pitchFamily="34" charset="-120"/>
              </a:rPr>
              <a:t>Furo</a:t>
            </a: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1950" dirty="0">
                <a:latin typeface="Prata" pitchFamily="34" charset="0"/>
                <a:ea typeface="Prata" pitchFamily="34" charset="-122"/>
                <a:cs typeface="Prata" pitchFamily="34" charset="-120"/>
              </a:rPr>
              <a:t>Escareado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6193393" y="5024284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Inclui cone de </a:t>
            </a:r>
            <a:r>
              <a:rPr lang="en-US" sz="1550" dirty="0">
                <a:latin typeface="Manrope" pitchFamily="34" charset="0"/>
              </a:rPr>
              <a:t>assentamento</a:t>
            </a:r>
            <a:r>
              <a:rPr lang="en-US" sz="15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na entrada. Perfeito para parafusos de cabeça cônica.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3393" y="5468277"/>
            <a:ext cx="504944" cy="5049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3393" y="606242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Prata" pitchFamily="34" charset="0"/>
                <a:ea typeface="Prata" pitchFamily="34" charset="-122"/>
                <a:cs typeface="Prata" pitchFamily="34" charset="-120"/>
              </a:rPr>
              <a:t>Furo Roscado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6193393" y="6403007"/>
            <a:ext cx="77300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Gera rosca interna padrão (métrica ou UNC). Define profundidade e tipo de rosca</a:t>
            </a: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52701"/>
            <a:ext cx="1427440" cy="432554"/>
          </a:xfrm>
          <a:prstGeom prst="roundRect">
            <a:avLst>
              <a:gd name="adj" fmla="val 6194"/>
            </a:avLst>
          </a:prstGeom>
          <a:noFill/>
          <a:ln w="7620">
            <a:solidFill>
              <a:srgbClr val="8448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22972" y="727234"/>
            <a:ext cx="114431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HOLE WIZARD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173123"/>
            <a:ext cx="8153273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latin typeface="Prata" pitchFamily="34" charset="0"/>
                <a:ea typeface="Prata" pitchFamily="34" charset="-122"/>
                <a:cs typeface="Prata" pitchFamily="34" charset="-120"/>
              </a:rPr>
              <a:t>Extensões de Furo: Controle Total da Profundidade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81407" y="3907393"/>
            <a:ext cx="83033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Ao definir um furo, o Solid Edge oferece duas opções de extensão que determinam </a:t>
            </a: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até onde o furo avança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na peça: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32234" y="5047413"/>
            <a:ext cx="6423898" cy="1704380"/>
          </a:xfrm>
          <a:prstGeom prst="roundRect">
            <a:avLst>
              <a:gd name="adj" fmla="val 8584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77396" y="5301135"/>
            <a:ext cx="2790944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🔵</a:t>
            </a: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Através de Tudo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73706" y="5657608"/>
            <a:ext cx="58250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furo atravessa completamente a peça, independente da espessura. Ideal para furos passantes.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315200" y="5046883"/>
            <a:ext cx="6423898" cy="1704380"/>
          </a:xfrm>
          <a:prstGeom prst="roundRect">
            <a:avLst>
              <a:gd name="adj" fmla="val 8584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689235" y="5217522"/>
            <a:ext cx="2790944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🟠</a:t>
            </a: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Distância Finita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721084" y="5650495"/>
            <a:ext cx="58250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define um valor exato de profundidade em milímetros. Essencial para furos cegos e roscados.</a:t>
            </a:r>
            <a:endParaRPr lang="en-US" sz="175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18F5EEB-8FE4-6091-1F6E-6B702AA4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459" y="527086"/>
            <a:ext cx="4186639" cy="408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C19314-9EC5-E9AD-9D2A-2D4D700F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58" y="2458916"/>
            <a:ext cx="4679956" cy="34859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71E49C7-3E0B-2F59-ABAD-0BFEC75C2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042" y="2290508"/>
            <a:ext cx="4201111" cy="36485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1355AAA-3FBE-E1D6-C8C0-CF90286E0374}"/>
              </a:ext>
            </a:extLst>
          </p:cNvPr>
          <p:cNvSpPr txBox="1"/>
          <p:nvPr/>
        </p:nvSpPr>
        <p:spPr>
          <a:xfrm>
            <a:off x="4975222" y="1188250"/>
            <a:ext cx="7315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latin typeface="Prata" pitchFamily="34" charset="0"/>
                <a:ea typeface="Prata" pitchFamily="34" charset="-122"/>
                <a:cs typeface="Prata" pitchFamily="34" charset="-120"/>
              </a:rPr>
              <a:t>Vamos </a:t>
            </a:r>
            <a:r>
              <a:rPr lang="en-US" sz="4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praticar</a:t>
            </a:r>
            <a:r>
              <a:rPr lang="en-US" sz="4000" dirty="0">
                <a:latin typeface="Prata" pitchFamily="34" charset="0"/>
                <a:ea typeface="Prata" pitchFamily="34" charset="-122"/>
                <a:cs typeface="Prata" pitchFamily="34" charset="-120"/>
              </a:rPr>
              <a:t>!!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1930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0B5337-44E4-B205-9882-79060285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44" y="829720"/>
            <a:ext cx="13130212" cy="558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13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" y="601147"/>
            <a:ext cx="5270302" cy="70271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43042" y="607100"/>
            <a:ext cx="1204793" cy="399812"/>
          </a:xfrm>
          <a:prstGeom prst="roundRect">
            <a:avLst>
              <a:gd name="adj" fmla="val 6489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372701" y="671870"/>
            <a:ext cx="94547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CAPÍTULO 4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43042" y="1089303"/>
            <a:ext cx="6957536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latin typeface="Prata" pitchFamily="34" charset="0"/>
                <a:ea typeface="Prata" pitchFamily="34" charset="-122"/>
                <a:cs typeface="Prata" pitchFamily="34" charset="-120"/>
              </a:rPr>
              <a:t>Modelagem por Revolução</a:t>
            </a:r>
            <a:endParaRPr lang="en-US" sz="4250" dirty="0"/>
          </a:p>
        </p:txBody>
      </p:sp>
      <p:sp>
        <p:nvSpPr>
          <p:cNvPr id="7" name="Text 4"/>
          <p:cNvSpPr/>
          <p:nvPr/>
        </p:nvSpPr>
        <p:spPr>
          <a:xfrm>
            <a:off x="6205180" y="1804809"/>
            <a:ext cx="7630716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Peças circulares como eixos, polias e flanges são criadas </a:t>
            </a:r>
            <a:r>
              <a:rPr lang="en-US" sz="17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girando um perfil 2D em torno de um eixo de simetria</a:t>
            </a:r>
            <a:r>
              <a:rPr lang="en-US" sz="17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. Diferente da extrusão, a revolução gera geometria totalmente simétrica.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7447" y="2981444"/>
            <a:ext cx="864751" cy="1297067"/>
          </a:xfrm>
          <a:prstGeom prst="roundRect">
            <a:avLst>
              <a:gd name="adj" fmla="val 36001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517719" y="3427333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8176" y="3197543"/>
            <a:ext cx="35423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Prata" pitchFamily="34" charset="0"/>
                <a:ea typeface="Prata" pitchFamily="34" charset="-122"/>
                <a:cs typeface="Prata" pitchFamily="34" charset="-120"/>
              </a:rPr>
              <a:t>Desenhe a Linha de Centro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382470" y="3535323"/>
            <a:ext cx="65599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Eixo de rotação — referência obrigatória do perfil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7447" y="4364533"/>
            <a:ext cx="864751" cy="1297067"/>
          </a:xfrm>
          <a:prstGeom prst="roundRect">
            <a:avLst>
              <a:gd name="adj" fmla="val 36001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17719" y="4810421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8176" y="4525388"/>
            <a:ext cx="35144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Prata" pitchFamily="34" charset="0"/>
                <a:ea typeface="Prata" pitchFamily="34" charset="-122"/>
                <a:cs typeface="Prata" pitchFamily="34" charset="-120"/>
              </a:rPr>
              <a:t>Rascunhe Metade do Perfil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318176" y="4936204"/>
            <a:ext cx="65599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Apenas um lado da peça, do eixo até a borda externa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47447" y="5705713"/>
            <a:ext cx="864751" cy="1297067"/>
          </a:xfrm>
          <a:prstGeom prst="roundRect">
            <a:avLst>
              <a:gd name="adj" fmla="val 36001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517719" y="616987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chemeClr val="bg1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18176" y="596205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Prata" pitchFamily="34" charset="0"/>
                <a:ea typeface="Prata" pitchFamily="34" charset="-122"/>
                <a:cs typeface="Prata" pitchFamily="34" charset="-120"/>
              </a:rPr>
              <a:t>Gire 360°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318176" y="6286999"/>
            <a:ext cx="65599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 Solid Edge revolve o perfil gerando a peça completa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495"/>
            <a:ext cx="74943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rata" pitchFamily="34" charset="0"/>
                <a:ea typeface="Prata" pitchFamily="34" charset="-122"/>
                <a:cs typeface="Prata" pitchFamily="34" charset="-120"/>
              </a:rPr>
              <a:t>Revolução: O Perfil e o Eixo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559981" y="2188250"/>
            <a:ext cx="42860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rata" pitchFamily="34" charset="0"/>
                <a:ea typeface="Prata" pitchFamily="34" charset="-122"/>
                <a:cs typeface="Prata" pitchFamily="34" charset="-120"/>
              </a:rPr>
              <a:t>Regras Essenciais do Rascunho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4991" y="2809042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97097" y="2797731"/>
            <a:ext cx="7547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Linha de Centro: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deve ser o primeiro elemento do esboço e servir como eixo de rotação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4991" y="3988475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97097" y="3977164"/>
            <a:ext cx="7547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Metade do perfil: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desenhe apenas um lado — o software completa a simetria automaticamente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4991" y="5167908"/>
            <a:ext cx="340162" cy="340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97097" y="5156597"/>
            <a:ext cx="7547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Perfil fechado: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o contorno deve estar completamente fechado para gerar um sólido válido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4991" y="6347341"/>
            <a:ext cx="340162" cy="3401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97097" y="6336030"/>
            <a:ext cx="7547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Ângulo de giro: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use </a:t>
            </a: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360°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para peças completas ou valores menores para setores</a:t>
            </a:r>
            <a:endParaRPr lang="en-US" sz="175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E949E44-3D67-D447-94A7-71FF4E5EB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69" y="3379003"/>
            <a:ext cx="4888641" cy="19589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77BBE9E-FFD2-2E8D-1E28-C7FBE52C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066" y="2657282"/>
            <a:ext cx="4239217" cy="276263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D149199-4325-CAEE-2DFA-3ECFDB0F010B}"/>
              </a:ext>
            </a:extLst>
          </p:cNvPr>
          <p:cNvSpPr txBox="1"/>
          <p:nvPr/>
        </p:nvSpPr>
        <p:spPr>
          <a:xfrm>
            <a:off x="6200775" y="745279"/>
            <a:ext cx="73152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Exemplos</a:t>
            </a:r>
            <a:endParaRPr lang="en-US" sz="4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48C381-18E6-1A51-F0EF-25969EEB9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842" y="2452455"/>
            <a:ext cx="369621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69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00827" y="728186"/>
            <a:ext cx="1269921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22290" y="384869"/>
            <a:ext cx="8242240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Atividade</a:t>
            </a:r>
            <a:r>
              <a:rPr lang="en-US" sz="4300" dirty="0">
                <a:latin typeface="Prata" pitchFamily="34" charset="0"/>
                <a:ea typeface="Prata" pitchFamily="34" charset="-122"/>
                <a:cs typeface="Prata" pitchFamily="34" charset="-120"/>
              </a:rPr>
              <a:t> 1– </a:t>
            </a: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fazer</a:t>
            </a:r>
            <a:r>
              <a:rPr lang="en-US" sz="43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por</a:t>
            </a:r>
            <a:r>
              <a:rPr lang="en-US" sz="4300" dirty="0">
                <a:latin typeface="Prata" pitchFamily="34" charset="0"/>
                <a:ea typeface="Prata" pitchFamily="34" charset="-122"/>
                <a:cs typeface="Prata" pitchFamily="34" charset="-120"/>
              </a:rPr>
              <a:t> </a:t>
            </a: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revolução</a:t>
            </a:r>
            <a:endParaRPr lang="en-US" sz="4300" dirty="0"/>
          </a:p>
        </p:txBody>
      </p:sp>
      <p:pic>
        <p:nvPicPr>
          <p:cNvPr id="4" name="Imagem 3" descr="Desenho3 sab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4" y="1830674"/>
            <a:ext cx="13263326" cy="5322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CB705AB-8647-5E44-1494-D4F3CC6CBD0A}"/>
              </a:ext>
            </a:extLst>
          </p:cNvPr>
          <p:cNvSpPr txBox="1"/>
          <p:nvPr/>
        </p:nvSpPr>
        <p:spPr>
          <a:xfrm>
            <a:off x="3391787" y="690879"/>
            <a:ext cx="7315200" cy="73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2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Atividade</a:t>
            </a:r>
            <a:r>
              <a:rPr lang="en-US" sz="3200" dirty="0">
                <a:latin typeface="Prata" pitchFamily="34" charset="0"/>
                <a:ea typeface="Prata" pitchFamily="34" charset="-122"/>
                <a:cs typeface="Prata" pitchFamily="34" charset="-120"/>
              </a:rPr>
              <a:t> 2</a:t>
            </a:r>
            <a:endParaRPr lang="en-US" sz="3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910132-DCC7-019B-25BE-7CE54C03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659" y="1661938"/>
            <a:ext cx="3778324" cy="511002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0676BD4-381B-8DE4-D02A-76B96AF3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512" y="1947688"/>
            <a:ext cx="2480231" cy="43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0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741E0E10-518E-ACDD-59B0-001273544BAB}"/>
              </a:ext>
            </a:extLst>
          </p:cNvPr>
          <p:cNvSpPr/>
          <p:nvPr/>
        </p:nvSpPr>
        <p:spPr>
          <a:xfrm>
            <a:off x="2999104" y="518219"/>
            <a:ext cx="6920389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Atividade</a:t>
            </a:r>
            <a:r>
              <a:rPr lang="en-US" sz="4300" dirty="0">
                <a:latin typeface="Prata" pitchFamily="34" charset="0"/>
                <a:ea typeface="Prata" pitchFamily="34" charset="-122"/>
                <a:cs typeface="Prata" pitchFamily="34" charset="-120"/>
              </a:rPr>
              <a:t> 3</a:t>
            </a:r>
            <a:endParaRPr lang="en-US" sz="43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3677AD-E4E8-FE29-0625-531E6A77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3016182"/>
            <a:ext cx="2762250" cy="245408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D1AF699-1214-922A-4E57-F69EEAA1C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286" y="2488661"/>
            <a:ext cx="7563589" cy="332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8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4260" y="1078944"/>
            <a:ext cx="662832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Chanfro</a:t>
            </a:r>
            <a:r>
              <a:rPr lang="en-US" sz="4150" dirty="0">
                <a:latin typeface="Prata" pitchFamily="34" charset="0"/>
                <a:ea typeface="Prata" pitchFamily="34" charset="-122"/>
                <a:cs typeface="Prata" pitchFamily="34" charset="-120"/>
              </a:rPr>
              <a:t> e </a:t>
            </a:r>
            <a:r>
              <a:rPr lang="en-US" sz="415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arredondamento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44260" y="2042398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Chanfro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(Chamfer):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Substitui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o canto “vivo”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por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uma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superfície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plana e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inclinada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. Ideal para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facilitar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o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encaixe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de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pinos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e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furos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além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de remover </a:t>
            </a:r>
            <a:r>
              <a:rPr lang="en-US" sz="165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rebarbas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</a:p>
          <a:p>
            <a:pPr marL="0" indent="0" algn="l">
              <a:lnSpc>
                <a:spcPts val="2550"/>
              </a:lnSpc>
              <a:buNone/>
            </a:pPr>
            <a:endParaRPr lang="en-US" sz="1650" dirty="0">
              <a:latin typeface="Manrope" pitchFamily="34" charset="0"/>
            </a:endParaRPr>
          </a:p>
          <a:p>
            <a:pPr>
              <a:lnSpc>
                <a:spcPts val="2550"/>
              </a:lnSpc>
            </a:pPr>
            <a:r>
              <a:rPr lang="en-US" sz="1650" dirty="0" err="1">
                <a:latin typeface="Manrope" pitchFamily="34" charset="0"/>
              </a:rPr>
              <a:t>Arredondamento</a:t>
            </a:r>
            <a:r>
              <a:rPr lang="en-US" sz="1650" dirty="0">
                <a:latin typeface="Manrope" pitchFamily="34" charset="0"/>
              </a:rPr>
              <a:t>(Fillet) : </a:t>
            </a:r>
            <a:r>
              <a:rPr lang="pt-BR" dirty="0"/>
              <a:t>Substitui cantos vivos por uma superfície curva com um raio definido. Ele distribui melhor as forças na peça e facilita o escoamento em processos de injeção e fundição.</a:t>
            </a:r>
            <a:endParaRPr lang="en-US" sz="165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240A65D-0158-48CD-BFA4-E5D7F340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55" y="4393024"/>
            <a:ext cx="3086695" cy="1794178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CE05583-1252-0D76-EA4F-1F76BA2DF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413" y="4523183"/>
            <a:ext cx="2618472" cy="14947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ídia Online 1" title="Aula 8: Chanfros e arredondamentos">
            <a:hlinkClick r:id="" action="ppaction://media"/>
            <a:extLst>
              <a:ext uri="{FF2B5EF4-FFF2-40B4-BE49-F238E27FC236}">
                <a16:creationId xmlns:a16="http://schemas.microsoft.com/office/drawing/2014/main" id="{35F2A377-A522-015F-B53A-C69B8CC2C96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06099" y="523875"/>
            <a:ext cx="11214526" cy="63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1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00827" y="728186"/>
            <a:ext cx="1269921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46754" y="384869"/>
            <a:ext cx="6920389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Atividade</a:t>
            </a:r>
            <a:r>
              <a:rPr lang="en-US" sz="4300" dirty="0">
                <a:latin typeface="Prata" pitchFamily="34" charset="0"/>
                <a:ea typeface="Prata" pitchFamily="34" charset="-122"/>
                <a:cs typeface="Prata" pitchFamily="34" charset="-120"/>
              </a:rPr>
              <a:t> 5</a:t>
            </a:r>
            <a:endParaRPr lang="en-US" sz="4300" dirty="0"/>
          </a:p>
        </p:txBody>
      </p:sp>
      <p:pic>
        <p:nvPicPr>
          <p:cNvPr id="1026" name="Picture 2" descr="C:\Users\pc\Downloads\Gemini_Generated_Image_dz0lpxdz0lpxdz0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46754" y="1328545"/>
            <a:ext cx="6738143" cy="53870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AD018C-16C0-8A5D-556B-C85B4CB2C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935" y="1601173"/>
            <a:ext cx="9205710" cy="4358022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CE7A7CA3-BED5-D16F-9AC8-C221D0C3DE5F}"/>
              </a:ext>
            </a:extLst>
          </p:cNvPr>
          <p:cNvSpPr/>
          <p:nvPr/>
        </p:nvSpPr>
        <p:spPr>
          <a:xfrm>
            <a:off x="3855005" y="398263"/>
            <a:ext cx="6920389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 err="1">
                <a:latin typeface="Prata" pitchFamily="34" charset="0"/>
                <a:ea typeface="Prata" pitchFamily="34" charset="-122"/>
                <a:cs typeface="Prata" pitchFamily="34" charset="-120"/>
              </a:rPr>
              <a:t>Atividade</a:t>
            </a:r>
            <a:r>
              <a:rPr lang="en-US" sz="4300" dirty="0">
                <a:latin typeface="Prata" pitchFamily="34" charset="0"/>
                <a:ea typeface="Prata" pitchFamily="34" charset="-122"/>
                <a:cs typeface="Prata" pitchFamily="34" charset="-120"/>
              </a:rPr>
              <a:t> 6</a:t>
            </a:r>
            <a:endParaRPr lang="en-US" sz="4300" dirty="0"/>
          </a:p>
        </p:txBody>
      </p:sp>
    </p:spTree>
    <p:extLst>
      <p:ext uri="{BB962C8B-B14F-4D97-AF65-F5344CB8AC3E}">
        <p14:creationId xmlns:p14="http://schemas.microsoft.com/office/powerpoint/2010/main" val="3367973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4E847DC-3DA5-641C-4E87-4778CFC5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129" y="2676307"/>
            <a:ext cx="5344271" cy="31246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8B5262-5145-F3DA-173B-1E8C05C6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86" y="2343149"/>
            <a:ext cx="8764243" cy="438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1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683025"/>
      </p:ext>
    </p:extLst>
  </p:cSld>
  <p:clrMapOvr>
    <a:masterClrMapping/>
  </p:clrMapOvr>
</p:sld>
</file>

<file path=ppt/theme/theme1.xml><?xml version="1.0" encoding="utf-8"?>
<a:theme xmlns:a="http://schemas.openxmlformats.org/drawingml/2006/main" name="IFMG -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FMG - Theme" id="{CAC2067F-1B10-48BF-BE59-366EF363BC68}" vid="{92B2563D-64DD-4AB1-AD9F-6B2F9ACB61F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670</Words>
  <Application>Microsoft Office PowerPoint</Application>
  <PresentationFormat>Personalizar</PresentationFormat>
  <Paragraphs>94</Paragraphs>
  <Slides>21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Manrope</vt:lpstr>
      <vt:lpstr>Calibri</vt:lpstr>
      <vt:lpstr>Arial</vt:lpstr>
      <vt:lpstr>Prata</vt:lpstr>
      <vt:lpstr>IFMG -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OTAVIO LUIZ NUNES DA SILVA</cp:lastModifiedBy>
  <cp:revision>4</cp:revision>
  <dcterms:created xsi:type="dcterms:W3CDTF">2026-05-02T19:47:21Z</dcterms:created>
  <dcterms:modified xsi:type="dcterms:W3CDTF">2026-05-23T02:09:48Z</dcterms:modified>
</cp:coreProperties>
</file>