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645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Alfabetização Visual em Desenho Técnico Industrial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56311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guia essencial para aprender a ler, interpretar e criar desenhos técnicos — a linguagem universal da engenharia. Sem experiência prévia em CAD necessária.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407792"/>
            <a:ext cx="1179686" cy="266402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</p:sp>
      <p:sp>
        <p:nvSpPr>
          <p:cNvPr id="7" name="Text 4"/>
          <p:cNvSpPr/>
          <p:nvPr/>
        </p:nvSpPr>
        <p:spPr>
          <a:xfrm>
            <a:off x="4010174" y="3450282"/>
            <a:ext cx="100957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DESENHO TÉCNICO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175647" y="3403029"/>
            <a:ext cx="105467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8448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65465" y="3450282"/>
            <a:ext cx="8750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ABNT / 1º DIEDRO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301160" y="3403029"/>
            <a:ext cx="101121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8448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90977" y="3450282"/>
            <a:ext cx="8315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NÍVEL INICIANTE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29803"/>
            <a:ext cx="801514" cy="202629"/>
          </a:xfrm>
          <a:prstGeom prst="roundRect">
            <a:avLst>
              <a:gd name="adj" fmla="val 6821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667122" y="364331"/>
            <a:ext cx="663401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FUNDAMENTOS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569863"/>
            <a:ext cx="3910087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Linguagem da Engenharia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1175370"/>
            <a:ext cx="2599060" cy="2599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2876" y="2224385"/>
            <a:ext cx="5067672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fotografia mostra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algo parece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Um desenho técnico mostra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algo deve ser fabricado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Ele é um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documento legal e preciso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que contém tudo o que o fabricante precisa para produzir a peça corretamente.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8066" y="3984873"/>
            <a:ext cx="2586856" cy="828824"/>
          </a:xfrm>
          <a:prstGeom prst="roundRect">
            <a:avLst>
              <a:gd name="adj" fmla="val 8274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3778" y="3984873"/>
            <a:ext cx="57150" cy="828824"/>
          </a:xfrm>
          <a:prstGeom prst="roundRect">
            <a:avLst>
              <a:gd name="adj" fmla="val 30233"/>
            </a:avLst>
          </a:prstGeom>
          <a:solidFill>
            <a:srgbClr val="84482D"/>
          </a:solidFill>
          <a:ln/>
        </p:spPr>
      </p:sp>
      <p:sp>
        <p:nvSpPr>
          <p:cNvPr id="9" name="Text 6"/>
          <p:cNvSpPr/>
          <p:nvPr/>
        </p:nvSpPr>
        <p:spPr>
          <a:xfrm>
            <a:off x="770334" y="411427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Medidas Exatas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0334" y="4350321"/>
            <a:ext cx="228518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Cotas com valores numéricos em milímetros.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8460" y="3984873"/>
            <a:ext cx="2586930" cy="828824"/>
          </a:xfrm>
          <a:prstGeom prst="roundRect">
            <a:avLst>
              <a:gd name="adj" fmla="val 8274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173" y="3984873"/>
            <a:ext cx="57150" cy="828824"/>
          </a:xfrm>
          <a:prstGeom prst="roundRect">
            <a:avLst>
              <a:gd name="adj" fmla="val 30233"/>
            </a:avLst>
          </a:prstGeom>
          <a:solidFill>
            <a:srgbClr val="84482D"/>
          </a:solidFill>
          <a:ln/>
        </p:spPr>
      </p:sp>
      <p:sp>
        <p:nvSpPr>
          <p:cNvPr id="13" name="Text 10"/>
          <p:cNvSpPr/>
          <p:nvPr/>
        </p:nvSpPr>
        <p:spPr>
          <a:xfrm>
            <a:off x="3450729" y="411427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Tolerâncias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50729" y="4350321"/>
            <a:ext cx="228525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Margem aceitável de variação dimensional.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58929" y="3984873"/>
            <a:ext cx="2586856" cy="828824"/>
          </a:xfrm>
          <a:prstGeom prst="roundRect">
            <a:avLst>
              <a:gd name="adj" fmla="val 8274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4642" y="3984873"/>
            <a:ext cx="57150" cy="828824"/>
          </a:xfrm>
          <a:prstGeom prst="roundRect">
            <a:avLst>
              <a:gd name="adj" fmla="val 30233"/>
            </a:avLst>
          </a:prstGeom>
          <a:solidFill>
            <a:srgbClr val="84482D"/>
          </a:solidFill>
          <a:ln/>
        </p:spPr>
      </p:sp>
      <p:sp>
        <p:nvSpPr>
          <p:cNvPr id="17" name="Text 14"/>
          <p:cNvSpPr/>
          <p:nvPr/>
        </p:nvSpPr>
        <p:spPr>
          <a:xfrm>
            <a:off x="6131198" y="411427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Instruções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31198" y="4350321"/>
            <a:ext cx="228518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Acabamentos, materiais e tratamentos.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65399"/>
            <a:ext cx="986879" cy="266402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07889"/>
            <a:ext cx="8167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FUNDAMENTOS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88504"/>
            <a:ext cx="37456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 Alfabeto das Linhas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4409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tipo de linha tem um significado preciso. Saber lê-las é o primeiro passo para interpretar qualquer desenho técnico.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530376"/>
            <a:ext cx="283518" cy="283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991073"/>
            <a:ext cx="18599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Linha Contínua Larga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29758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Contornos e arestas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visíveis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Representa o que o olho enxerga diretamente na peça.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530376"/>
            <a:ext cx="283518" cy="283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72433" y="29910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Linha Tracejada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272433" y="329758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Arestas e contornos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invisíveis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Indica o que está "atrás" ou dentro da peça.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530376"/>
            <a:ext cx="283518" cy="283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8747" y="29910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Linha Traço e Ponto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329758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Eixos de simetria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 centros de furos. Referências geométricas da peça.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430709"/>
            <a:ext cx="737667" cy="239018"/>
          </a:xfrm>
          <a:prstGeom prst="roundRect">
            <a:avLst>
              <a:gd name="adj" fmla="val 6561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535707" y="469850"/>
            <a:ext cx="58095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PROJEÇÕES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717872"/>
            <a:ext cx="6353249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Projeções Ortográficas: A Caixa de Vidro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329" y="1306934"/>
            <a:ext cx="4833342" cy="28685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5984" y="2008065"/>
            <a:ext cx="411456" cy="411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19403" y="3394415"/>
            <a:ext cx="1201452" cy="46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Desdobrar vistas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9669" y="2008836"/>
            <a:ext cx="411456" cy="411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05244" y="3394415"/>
            <a:ext cx="1201452" cy="46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Projetar faces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65511" y="2008836"/>
            <a:ext cx="411456" cy="411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66398" y="3394415"/>
            <a:ext cx="1201452" cy="46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Posicionar peça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457349" y="4311030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Imagine a peça dentro de uma </a:t>
            </a:r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caixa de vidro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Cada face do cubo recebe a projeção de uma vista. Ao "desdobrar" o cubo, obtemos todas as vistas no mesmo plano. No Brasil, usamos o </a:t>
            </a:r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1º Diedro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(padrão ABNT): a vista lateral aparece no lado </a:t>
            </a:r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oposto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à direção de observação.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34504"/>
            <a:ext cx="800323" cy="266402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76995"/>
            <a:ext cx="6302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PROJEÇÕES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57610"/>
            <a:ext cx="41478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 Três Vistas Principais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13198"/>
            <a:ext cx="1507480" cy="931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1220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Vista Frontal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42855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vista principal. Mostra a forma mais característica da peça. É a referência para todas as outras vistas.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13198"/>
            <a:ext cx="1507480" cy="931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31220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Vista Superior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42855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Projetada de cima para baixo. Alinhada verticalmente com a vista frontal. Revela profundidade e largura.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13198"/>
            <a:ext cx="1507480" cy="931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3122042"/>
            <a:ext cx="19350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Vista Lateral Esquerda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42855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Projetada do lado esquerdo. Alinhada horizontalmente com a frontal. Mostra altura e profundidade.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41709"/>
            <a:ext cx="771376" cy="202629"/>
          </a:xfrm>
          <a:prstGeom prst="roundRect">
            <a:avLst>
              <a:gd name="adj" fmla="val 6821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667122" y="376238"/>
            <a:ext cx="633264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PERSPECTIVAS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581769"/>
            <a:ext cx="316445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Perspectiva Isométrica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1187276"/>
            <a:ext cx="2599060" cy="2599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2876" y="2236291"/>
            <a:ext cx="5067672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Enquanto a perspectiva cônica imita a visão humana (com pontos de fuga), a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perspectiva isométrica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mantém as medidas em escala real nos três eixos — tornando-a ideal para desenhos técnicos.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8066" y="3996779"/>
            <a:ext cx="3927128" cy="805011"/>
          </a:xfrm>
          <a:prstGeom prst="roundRect">
            <a:avLst>
              <a:gd name="adj" fmla="val 2146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713184" y="4111898"/>
            <a:ext cx="1439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📐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Eixos a 30°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184" y="4352702"/>
            <a:ext cx="369689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três eixos formam ângulos de 120° entre si, com inclinação de 30° em relação à horizontal.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8732" y="3996779"/>
            <a:ext cx="3927128" cy="805011"/>
          </a:xfrm>
          <a:prstGeom prst="roundRect">
            <a:avLst>
              <a:gd name="adj" fmla="val 2146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4733851" y="4111898"/>
            <a:ext cx="1439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📏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Sem Distorção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33851" y="4352702"/>
            <a:ext cx="369689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Medidas reais podem ser aplicadas diretamente nos eixos, sem correção de perspectiva.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31291"/>
            <a:ext cx="573063" cy="202629"/>
          </a:xfrm>
          <a:prstGeom prst="roundRect">
            <a:avLst>
              <a:gd name="adj" fmla="val 6821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667122" y="365820"/>
            <a:ext cx="434950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COTAGEM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571351"/>
            <a:ext cx="28796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Escalas e Cotagem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98066" y="116517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Escalas Mais Usadas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066" y="1450330"/>
            <a:ext cx="3833366" cy="1023193"/>
          </a:xfrm>
          <a:prstGeom prst="roundRect">
            <a:avLst>
              <a:gd name="adj" fmla="val 1689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353" y="1464618"/>
            <a:ext cx="3804791" cy="345504"/>
          </a:xfrm>
          <a:prstGeom prst="roundRect">
            <a:avLst>
              <a:gd name="adj" fmla="val 38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727472" y="190366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1:1 — Tamanho Real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7472" y="2177132"/>
            <a:ext cx="357455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peça é desenhada no seu tamanho verdadeiro.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8066" y="2567062"/>
            <a:ext cx="3833366" cy="1023193"/>
          </a:xfrm>
          <a:prstGeom prst="roundRect">
            <a:avLst>
              <a:gd name="adj" fmla="val 1689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353" y="2581349"/>
            <a:ext cx="3804791" cy="345504"/>
          </a:xfrm>
          <a:prstGeom prst="roundRect">
            <a:avLst>
              <a:gd name="adj" fmla="val 38"/>
            </a:avLst>
          </a:prstGeom>
          <a:solidFill>
            <a:srgbClr val="404245"/>
          </a:solidFill>
          <a:ln/>
        </p:spPr>
      </p:sp>
      <p:sp>
        <p:nvSpPr>
          <p:cNvPr id="12" name="Text 10"/>
          <p:cNvSpPr/>
          <p:nvPr/>
        </p:nvSpPr>
        <p:spPr>
          <a:xfrm>
            <a:off x="727472" y="302039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1:2 — Redução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7472" y="3293864"/>
            <a:ext cx="357455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peças grandes desenhadas em papel menor.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066" y="3683794"/>
            <a:ext cx="3833366" cy="1023193"/>
          </a:xfrm>
          <a:prstGeom prst="roundRect">
            <a:avLst>
              <a:gd name="adj" fmla="val 1689"/>
            </a:avLst>
          </a:prstGeom>
          <a:solidFill>
            <a:srgbClr val="212326"/>
          </a:solidFill>
          <a:ln w="14288">
            <a:solidFill>
              <a:srgbClr val="595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353" y="3698081"/>
            <a:ext cx="3804791" cy="345504"/>
          </a:xfrm>
          <a:prstGeom prst="roundRect">
            <a:avLst>
              <a:gd name="adj" fmla="val 38"/>
            </a:avLst>
          </a:prstGeom>
          <a:solidFill>
            <a:srgbClr val="404245"/>
          </a:solidFill>
          <a:ln/>
        </p:spPr>
      </p:sp>
      <p:sp>
        <p:nvSpPr>
          <p:cNvPr id="16" name="Text 14"/>
          <p:cNvSpPr/>
          <p:nvPr/>
        </p:nvSpPr>
        <p:spPr>
          <a:xfrm>
            <a:off x="727472" y="413712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2:1 — Ampliação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7472" y="4410596"/>
            <a:ext cx="357455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peças pequenas com detalhes minuciosos.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17182" y="116517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Regras de Cotagem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7182" y="1438647"/>
            <a:ext cx="3833366" cy="96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Cotas fora do contorno da peça, sempre que possível</a:t>
            </a:r>
            <a:endParaRPr lang="en-US" sz="9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Linha de cota paralela à medida indicada</a:t>
            </a:r>
            <a:endParaRPr lang="en-US" sz="9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Evitar repetição de cotas</a:t>
            </a:r>
            <a:endParaRPr lang="en-US" sz="9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Unidade padrão: </a:t>
            </a:r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milímetro (mm)</a:t>
            </a:r>
            <a:endParaRPr lang="en-US" sz="900" dirty="0"/>
          </a:p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Cotas de diâmetro precedidas de </a:t>
            </a:r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9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17182" y="2509763"/>
            <a:ext cx="3833366" cy="597917"/>
          </a:xfrm>
          <a:prstGeom prst="roundRect">
            <a:avLst>
              <a:gd name="adj" fmla="val 2890"/>
            </a:avLst>
          </a:prstGeom>
          <a:solidFill>
            <a:srgbClr val="022349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300" y="2681436"/>
            <a:ext cx="143917" cy="11511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91336" y="2632025"/>
            <a:ext cx="33440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cota representa sempre a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medida real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 peça, independente da escala usada no desenho.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35012"/>
            <a:ext cx="518889" cy="218033"/>
          </a:xfrm>
          <a:prstGeom prst="roundRect">
            <a:avLst>
              <a:gd name="adj" fmla="val 6705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499467" y="371549"/>
            <a:ext cx="372740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594866"/>
            <a:ext cx="5697289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Cortes e Seções: Enxergando o Interior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250305"/>
            <a:ext cx="2708672" cy="270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37037" y="2423443"/>
            <a:ext cx="528525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Quando uma peça possui detalhes internos complexos, usamos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cortes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como se "serrássemos" a peça ao meio para revelar seu interior.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83" y="4198255"/>
            <a:ext cx="182687" cy="1826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275" y="419442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Plano de Corte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22275" y="4447580"/>
            <a:ext cx="228064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Linha traço-e-ponto indicando onde a peça foi "cortada" virtualmente.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9428" y="4198255"/>
            <a:ext cx="182687" cy="1826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29620" y="419442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Hachuras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629620" y="4447580"/>
            <a:ext cx="228064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Linhas inclinadas a 45° indicam a região onde o material foi "cortado".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6773" y="4198255"/>
            <a:ext cx="182687" cy="1826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6965" y="419442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Seção Transversal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436965" y="4447580"/>
            <a:ext cx="228064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Mostra apenas a fatia cortada, sem o restante da peça.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3823"/>
            <a:ext cx="790277" cy="266402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06314"/>
            <a:ext cx="6201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SOLID EDGE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86929"/>
            <a:ext cx="56903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Do Papel ao Software: Solid Edge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4251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Todos os conceitos aprendidos se traduzem diretamente no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Solid Edge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O software usa exatamente as mesmas regras de projeção, cotagem e representação.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65561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877517"/>
            <a:ext cx="2622724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2986460"/>
            <a:ext cx="18966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Sketch 2D (Rascunho)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292971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perfil é desenhado com linhas, cotas e restrições — igual ao desenho técnico no papel.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60601" y="265561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0601" y="2877517"/>
            <a:ext cx="2622724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2" name="Text 10"/>
          <p:cNvSpPr/>
          <p:nvPr/>
        </p:nvSpPr>
        <p:spPr>
          <a:xfrm>
            <a:off x="3260601" y="2986460"/>
            <a:ext cx="18205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Extrusão / Revolução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60601" y="3292971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sketch vira sólido 3D. As projeções ortográficas são geradas automaticamente.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25083" y="265561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2877517"/>
            <a:ext cx="2622724" cy="1905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083" y="2986460"/>
            <a:ext cx="20935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Desenho Técnico (Draft)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25083" y="3292971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software gera vistas, cortes e cotas seguindo as normas ABNT automaticamente.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8" y="363959"/>
            <a:ext cx="3311649" cy="44155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39840" y="425053"/>
            <a:ext cx="3910087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 Que Você Aprendeu Hoje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3839840" y="937692"/>
            <a:ext cx="4893320" cy="819745"/>
          </a:xfrm>
          <a:prstGeom prst="roundRect">
            <a:avLst>
              <a:gd name="adj" fmla="val 2148"/>
            </a:avLst>
          </a:prstGeom>
          <a:solidFill>
            <a:srgbClr val="404245"/>
          </a:solidFill>
          <a:ln/>
        </p:spPr>
      </p:sp>
      <p:sp>
        <p:nvSpPr>
          <p:cNvPr id="6" name="Text 3"/>
          <p:cNvSpPr/>
          <p:nvPr/>
        </p:nvSpPr>
        <p:spPr>
          <a:xfrm>
            <a:off x="3957191" y="1055043"/>
            <a:ext cx="158665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📋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Linguagem Técnica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57191" y="1296739"/>
            <a:ext cx="465861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Desenho técnico é documento legal com medidas, tolerâncias e instruções de fabricação.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39840" y="1854622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404245"/>
          </a:solidFill>
          <a:ln/>
        </p:spPr>
      </p:sp>
      <p:sp>
        <p:nvSpPr>
          <p:cNvPr id="9" name="Text 6"/>
          <p:cNvSpPr/>
          <p:nvPr/>
        </p:nvSpPr>
        <p:spPr>
          <a:xfrm>
            <a:off x="3957191" y="197197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✏️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Tipos de Linhas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57191" y="2213670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Contínua, tracejada e traço-e-ponto — cada uma com significado preciso.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39840" y="2599879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404245"/>
          </a:solidFill>
          <a:ln/>
        </p:spPr>
      </p:sp>
      <p:sp>
        <p:nvSpPr>
          <p:cNvPr id="12" name="Text 9"/>
          <p:cNvSpPr/>
          <p:nvPr/>
        </p:nvSpPr>
        <p:spPr>
          <a:xfrm>
            <a:off x="3957191" y="271722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📦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Projeções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57191" y="2958926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Vistas ortográficas no 1º Diedro e perspectiva isométrica para representação 3D.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39840" y="3345135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404245"/>
          </a:solidFill>
          <a:ln/>
        </p:spPr>
      </p:sp>
      <p:sp>
        <p:nvSpPr>
          <p:cNvPr id="15" name="Text 12"/>
          <p:cNvSpPr/>
          <p:nvPr/>
        </p:nvSpPr>
        <p:spPr>
          <a:xfrm>
            <a:off x="3957191" y="346248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📐</a:t>
            </a:r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Escalas e Cortes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57191" y="3704183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Cotagem correta, escalas de representação e cortes para mostrar detalhes internos.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39840" y="4102522"/>
            <a:ext cx="4893320" cy="615925"/>
          </a:xfrm>
          <a:prstGeom prst="roundRect">
            <a:avLst>
              <a:gd name="adj" fmla="val 2859"/>
            </a:avLst>
          </a:prstGeom>
          <a:solidFill>
            <a:srgbClr val="183A1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191" y="4275088"/>
            <a:ext cx="146745" cy="11735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21287" y="4229026"/>
            <a:ext cx="439452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 esses fundamentos, você está pronto para começar a explorar o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Solid Edge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 confiança e precisão técnica!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2026-05-10T03:42:59Z</dcterms:created>
  <dcterms:modified xsi:type="dcterms:W3CDTF">2026-05-10T03:42:59Z</dcterms:modified>
</cp:coreProperties>
</file>